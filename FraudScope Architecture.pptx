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2108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Proposed evaluation framework. The data and modelling bands are deliberately conventional so that protocol effects are not confounded with architectural ones. The evaluation layer is where the contribution sits.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Modelling and tuning block. Three imbalance strategies cross three model families. Each family receives an identical budget of 90 candidate fits, so no family is advantaged by a larger search. The winner is refit on the full training partition and scored once on the held out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6264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Proposed Evaluation Framework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5E6B85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An ordinary detection pipeline; the contribution sits in the evaluation layer above it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2428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60" dirty="0">
                <a:solidFill>
                  <a:srgbClr val="33487E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DATA PREPARATION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498920"/>
            <a:ext cx="2395728" cy="868680"/>
          </a:xfrm>
          <a:prstGeom prst="roundRect">
            <a:avLst>
              <a:gd name="adj" fmla="val 6316"/>
            </a:avLst>
          </a:prstGeom>
          <a:solidFill>
            <a:srgbClr val="EDF2FB"/>
          </a:solidFill>
          <a:ln w="9525">
            <a:solidFill>
              <a:srgbClr val="B7C6E3"/>
            </a:solidFill>
            <a:prstDash val="solid"/>
          </a:ln>
          <a:effectLst>
            <a:outerShdw blurRad="63500" dist="12700" dir="5400000" algn="bl" rotWithShape="0">
              <a:srgbClr val="9AA6BF">
                <a:alpha val="22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6" name="Text 4"/>
          <p:cNvSpPr txBox="1"/>
          <p:nvPr/>
        </p:nvSpPr>
        <p:spPr>
          <a:xfrm>
            <a:off x="877824" y="1572072"/>
            <a:ext cx="21031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b="1" dirty="0">
                <a:solidFill>
                  <a:srgbClr val="16264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ULB benchmark</a:t>
            </a:r>
            <a:endParaRPr lang="en-US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5E6B85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284,807 transactions recorded over two days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511296" y="1498920"/>
            <a:ext cx="2395728" cy="868680"/>
          </a:xfrm>
          <a:prstGeom prst="roundRect">
            <a:avLst>
              <a:gd name="adj" fmla="val 6316"/>
            </a:avLst>
          </a:prstGeom>
          <a:solidFill>
            <a:srgbClr val="EDF2FB"/>
          </a:solidFill>
          <a:ln w="9525">
            <a:solidFill>
              <a:srgbClr val="B7C6E3"/>
            </a:solidFill>
            <a:prstDash val="solid"/>
          </a:ln>
          <a:effectLst>
            <a:outerShdw blurRad="63500" dist="12700" dir="5400000" algn="bl" rotWithShape="0">
              <a:srgbClr val="9AA6BF">
                <a:alpha val="22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8" name="Text 6"/>
          <p:cNvSpPr txBox="1"/>
          <p:nvPr/>
        </p:nvSpPr>
        <p:spPr>
          <a:xfrm>
            <a:off x="3657600" y="1572072"/>
            <a:ext cx="21031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b="1" dirty="0">
                <a:solidFill>
                  <a:srgbClr val="16264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Integrity check</a:t>
            </a:r>
            <a:endParaRPr lang="en-US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5E6B85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1,081 exact duplicates removed before any split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291072" y="1498920"/>
            <a:ext cx="2395728" cy="868680"/>
          </a:xfrm>
          <a:prstGeom prst="roundRect">
            <a:avLst>
              <a:gd name="adj" fmla="val 6316"/>
            </a:avLst>
          </a:prstGeom>
          <a:solidFill>
            <a:srgbClr val="EDF2FB"/>
          </a:solidFill>
          <a:ln w="9525">
            <a:solidFill>
              <a:srgbClr val="B7C6E3"/>
            </a:solidFill>
            <a:prstDash val="solid"/>
          </a:ln>
          <a:effectLst>
            <a:outerShdw blurRad="63500" dist="12700" dir="5400000" algn="bl" rotWithShape="0">
              <a:srgbClr val="9AA6BF">
                <a:alpha val="22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10" name="Text 8"/>
          <p:cNvSpPr txBox="1"/>
          <p:nvPr/>
        </p:nvSpPr>
        <p:spPr>
          <a:xfrm>
            <a:off x="6437376" y="1572072"/>
            <a:ext cx="21031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b="1" dirty="0">
                <a:solidFill>
                  <a:srgbClr val="16264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Split first, fit after</a:t>
            </a:r>
            <a:endParaRPr lang="en-US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5E6B85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Scaler estimated on training rows only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9070848" y="1498920"/>
            <a:ext cx="2395728" cy="868680"/>
          </a:xfrm>
          <a:prstGeom prst="roundRect">
            <a:avLst>
              <a:gd name="adj" fmla="val 6316"/>
            </a:avLst>
          </a:prstGeom>
          <a:solidFill>
            <a:srgbClr val="EDF2FB"/>
          </a:solidFill>
          <a:ln w="9525">
            <a:solidFill>
              <a:srgbClr val="B7C6E3"/>
            </a:solidFill>
            <a:prstDash val="solid"/>
          </a:ln>
          <a:effectLst>
            <a:outerShdw blurRad="63500" dist="12700" dir="5400000" algn="bl" rotWithShape="0">
              <a:srgbClr val="9AA6BF">
                <a:alpha val="22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12" name="Text 10"/>
          <p:cNvSpPr txBox="1"/>
          <p:nvPr/>
        </p:nvSpPr>
        <p:spPr>
          <a:xfrm>
            <a:off x="9217152" y="1572072"/>
            <a:ext cx="21031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b="1" dirty="0">
                <a:solidFill>
                  <a:srgbClr val="16264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Stratified partition</a:t>
            </a:r>
            <a:endParaRPr lang="en-US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5E6B85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198,608 training and 85,118 test rows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182112" y="1832676"/>
            <a:ext cx="274320" cy="201168"/>
          </a:xfrm>
          <a:prstGeom prst="rightArrow">
            <a:avLst/>
          </a:prstGeom>
          <a:solidFill>
            <a:srgbClr val="33487E"/>
          </a:solidFill>
          <a:ln w="12700">
            <a:solidFill>
              <a:srgbClr val="33487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4" name="Shape 12"/>
          <p:cNvSpPr/>
          <p:nvPr/>
        </p:nvSpPr>
        <p:spPr>
          <a:xfrm>
            <a:off x="5961888" y="1832676"/>
            <a:ext cx="274320" cy="201168"/>
          </a:xfrm>
          <a:prstGeom prst="rightArrow">
            <a:avLst/>
          </a:prstGeom>
          <a:solidFill>
            <a:srgbClr val="33487E"/>
          </a:solidFill>
          <a:ln w="12700">
            <a:solidFill>
              <a:srgbClr val="33487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5" name="Shape 13"/>
          <p:cNvSpPr/>
          <p:nvPr/>
        </p:nvSpPr>
        <p:spPr>
          <a:xfrm>
            <a:off x="8741664" y="1832676"/>
            <a:ext cx="274320" cy="201168"/>
          </a:xfrm>
          <a:prstGeom prst="rightArrow">
            <a:avLst/>
          </a:prstGeom>
          <a:solidFill>
            <a:srgbClr val="33487E"/>
          </a:solidFill>
          <a:ln w="12700">
            <a:solidFill>
              <a:srgbClr val="33487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6" name="Text 14"/>
          <p:cNvSpPr txBox="1"/>
          <p:nvPr/>
        </p:nvSpPr>
        <p:spPr>
          <a:xfrm>
            <a:off x="731520" y="264192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60" dirty="0">
                <a:solidFill>
                  <a:srgbClr val="33487E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MODELLING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1520" y="2897952"/>
            <a:ext cx="3322015" cy="868680"/>
          </a:xfrm>
          <a:prstGeom prst="roundRect">
            <a:avLst>
              <a:gd name="adj" fmla="val 6316"/>
            </a:avLst>
          </a:prstGeom>
          <a:solidFill>
            <a:srgbClr val="EDF2FB"/>
          </a:solidFill>
          <a:ln w="9525">
            <a:solidFill>
              <a:srgbClr val="B7C6E3"/>
            </a:solidFill>
            <a:prstDash val="solid"/>
          </a:ln>
          <a:effectLst>
            <a:outerShdw blurRad="63500" dist="12700" dir="5400000" algn="bl" rotWithShape="0">
              <a:srgbClr val="9AA6BF">
                <a:alpha val="22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18" name="Text 16"/>
          <p:cNvSpPr txBox="1"/>
          <p:nvPr/>
        </p:nvSpPr>
        <p:spPr>
          <a:xfrm>
            <a:off x="877824" y="2971104"/>
            <a:ext cx="3029407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b="1" dirty="0">
                <a:solidFill>
                  <a:srgbClr val="16264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Imbalance strategies</a:t>
            </a:r>
            <a:endParaRPr lang="en-US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5E6B85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Class weighting, random undersampling, SMOTE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437583" y="2897952"/>
            <a:ext cx="3322015" cy="868680"/>
          </a:xfrm>
          <a:prstGeom prst="roundRect">
            <a:avLst>
              <a:gd name="adj" fmla="val 6316"/>
            </a:avLst>
          </a:prstGeom>
          <a:solidFill>
            <a:srgbClr val="EDF2FB"/>
          </a:solidFill>
          <a:ln w="9525">
            <a:solidFill>
              <a:srgbClr val="B7C6E3"/>
            </a:solidFill>
            <a:prstDash val="solid"/>
          </a:ln>
          <a:effectLst>
            <a:outerShdw blurRad="63500" dist="12700" dir="5400000" algn="bl" rotWithShape="0">
              <a:srgbClr val="9AA6BF">
                <a:alpha val="22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20" name="Text 18"/>
          <p:cNvSpPr txBox="1"/>
          <p:nvPr/>
        </p:nvSpPr>
        <p:spPr>
          <a:xfrm>
            <a:off x="4583887" y="2971104"/>
            <a:ext cx="3029407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b="1" dirty="0">
                <a:solidFill>
                  <a:srgbClr val="16264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Model families</a:t>
            </a:r>
            <a:endParaRPr lang="en-US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5E6B85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Logistic regression, random forest, gradient boosting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8143646" y="2897952"/>
            <a:ext cx="3322015" cy="868680"/>
          </a:xfrm>
          <a:prstGeom prst="roundRect">
            <a:avLst>
              <a:gd name="adj" fmla="val 6316"/>
            </a:avLst>
          </a:prstGeom>
          <a:solidFill>
            <a:srgbClr val="EDF2FB"/>
          </a:solidFill>
          <a:ln w="9525">
            <a:solidFill>
              <a:srgbClr val="B7C6E3"/>
            </a:solidFill>
            <a:prstDash val="solid"/>
          </a:ln>
          <a:effectLst>
            <a:outerShdw blurRad="63500" dist="12700" dir="5400000" algn="bl" rotWithShape="0">
              <a:srgbClr val="9AA6BF">
                <a:alpha val="22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22" name="Text 20"/>
          <p:cNvSpPr txBox="1"/>
          <p:nvPr/>
        </p:nvSpPr>
        <p:spPr>
          <a:xfrm>
            <a:off x="8289950" y="2971104"/>
            <a:ext cx="3029407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b="1" dirty="0">
                <a:solidFill>
                  <a:srgbClr val="16264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Equal search budget</a:t>
            </a:r>
            <a:endParaRPr lang="en-US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5E6B85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30 configurations by 3 folds, 90 fits per family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108399" y="3231708"/>
            <a:ext cx="274320" cy="201168"/>
          </a:xfrm>
          <a:prstGeom prst="rightArrow">
            <a:avLst/>
          </a:prstGeom>
          <a:solidFill>
            <a:srgbClr val="33487E"/>
          </a:solidFill>
          <a:ln w="12700">
            <a:solidFill>
              <a:srgbClr val="33487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4" name="Shape 22"/>
          <p:cNvSpPr/>
          <p:nvPr/>
        </p:nvSpPr>
        <p:spPr>
          <a:xfrm>
            <a:off x="7814462" y="3231708"/>
            <a:ext cx="274320" cy="201168"/>
          </a:xfrm>
          <a:prstGeom prst="rightArrow">
            <a:avLst/>
          </a:prstGeom>
          <a:solidFill>
            <a:srgbClr val="33487E"/>
          </a:solidFill>
          <a:ln w="12700">
            <a:solidFill>
              <a:srgbClr val="33487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5" name="Text 23"/>
          <p:cNvSpPr txBox="1"/>
          <p:nvPr/>
        </p:nvSpPr>
        <p:spPr>
          <a:xfrm>
            <a:off x="731520" y="404095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60" dirty="0">
                <a:solidFill>
                  <a:srgbClr val="B26A15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EVALUATION LAYER 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31520" y="4278696"/>
            <a:ext cx="2395728" cy="1152144"/>
          </a:xfrm>
          <a:prstGeom prst="roundRect">
            <a:avLst>
              <a:gd name="adj" fmla="val 4762"/>
            </a:avLst>
          </a:prstGeom>
          <a:solidFill>
            <a:srgbClr val="FCF3E6"/>
          </a:solidFill>
          <a:ln w="9525">
            <a:solidFill>
              <a:srgbClr val="DFA75B"/>
            </a:solidFill>
            <a:prstDash val="solid"/>
          </a:ln>
          <a:effectLst>
            <a:outerShdw blurRad="63500" dist="12700" dir="5400000" algn="bl" rotWithShape="0">
              <a:srgbClr val="9AA6BF">
                <a:alpha val="22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27" name="Text 25"/>
          <p:cNvSpPr txBox="1"/>
          <p:nvPr/>
        </p:nvSpPr>
        <p:spPr>
          <a:xfrm>
            <a:off x="877824" y="4351848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b="1" dirty="0">
                <a:solidFill>
                  <a:srgbClr val="B26A15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Protocol comparison</a:t>
            </a:r>
            <a:endParaRPr lang="en-US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5E6B85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Random against out of time, with and without the Time column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3511296" y="4278696"/>
            <a:ext cx="2395728" cy="1152144"/>
          </a:xfrm>
          <a:prstGeom prst="roundRect">
            <a:avLst>
              <a:gd name="adj" fmla="val 4762"/>
            </a:avLst>
          </a:prstGeom>
          <a:solidFill>
            <a:srgbClr val="FCF3E6"/>
          </a:solidFill>
          <a:ln w="9525">
            <a:solidFill>
              <a:srgbClr val="DFA75B"/>
            </a:solidFill>
            <a:prstDash val="solid"/>
          </a:ln>
          <a:effectLst>
            <a:outerShdw blurRad="63500" dist="12700" dir="5400000" algn="bl" rotWithShape="0">
              <a:srgbClr val="9AA6BF">
                <a:alpha val="22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29" name="Text 27"/>
          <p:cNvSpPr txBox="1"/>
          <p:nvPr/>
        </p:nvSpPr>
        <p:spPr>
          <a:xfrm>
            <a:off x="3657600" y="4351848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b="1" dirty="0">
                <a:solidFill>
                  <a:srgbClr val="B26A15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Rolling origin</a:t>
            </a:r>
            <a:endParaRPr lang="en-US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5E6B85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Six disjoint windows; the random arm matched on train size, test size and fraud count</a:t>
            </a: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291072" y="4278696"/>
            <a:ext cx="2395728" cy="1152144"/>
          </a:xfrm>
          <a:prstGeom prst="roundRect">
            <a:avLst>
              <a:gd name="adj" fmla="val 4762"/>
            </a:avLst>
          </a:prstGeom>
          <a:solidFill>
            <a:srgbClr val="FCF3E6"/>
          </a:solidFill>
          <a:ln w="9525">
            <a:solidFill>
              <a:srgbClr val="DFA75B"/>
            </a:solidFill>
            <a:prstDash val="solid"/>
          </a:ln>
          <a:effectLst>
            <a:outerShdw blurRad="63500" dist="12700" dir="5400000" algn="bl" rotWithShape="0">
              <a:srgbClr val="9AA6BF">
                <a:alpha val="22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31" name="Text 29"/>
          <p:cNvSpPr txBox="1"/>
          <p:nvPr/>
        </p:nvSpPr>
        <p:spPr>
          <a:xfrm>
            <a:off x="6437376" y="4351848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b="1" dirty="0">
                <a:solidFill>
                  <a:srgbClr val="B26A15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Example dependent cost</a:t>
            </a:r>
            <a:endParaRPr lang="en-US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5E6B85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A missed fraud costs its own amount; the review cost is swept</a:t>
            </a: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9070848" y="4278696"/>
            <a:ext cx="2395728" cy="1152144"/>
          </a:xfrm>
          <a:prstGeom prst="roundRect">
            <a:avLst>
              <a:gd name="adj" fmla="val 4762"/>
            </a:avLst>
          </a:prstGeom>
          <a:solidFill>
            <a:srgbClr val="FCF3E6"/>
          </a:solidFill>
          <a:ln w="9525">
            <a:solidFill>
              <a:srgbClr val="DFA75B"/>
            </a:solidFill>
            <a:prstDash val="solid"/>
          </a:ln>
          <a:effectLst>
            <a:outerShdw blurRad="63500" dist="12700" dir="5400000" algn="bl" rotWithShape="0">
              <a:srgbClr val="9AA6BF">
                <a:alpha val="22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33" name="Text 31"/>
          <p:cNvSpPr txBox="1"/>
          <p:nvPr/>
        </p:nvSpPr>
        <p:spPr>
          <a:xfrm>
            <a:off x="9217152" y="4351848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b="1" dirty="0">
                <a:solidFill>
                  <a:srgbClr val="B26A15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External validation</a:t>
            </a:r>
            <a:endParaRPr lang="en-US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5E6B85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Five disjoint windows, a seven-day label delay, prevalence matched</a:t>
            </a: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3182112" y="4754184"/>
            <a:ext cx="274320" cy="201168"/>
          </a:xfrm>
          <a:prstGeom prst="rightArrow">
            <a:avLst/>
          </a:prstGeom>
          <a:solidFill>
            <a:srgbClr val="33487E"/>
          </a:solidFill>
          <a:ln w="12700">
            <a:solidFill>
              <a:srgbClr val="33487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5" name="Shape 33"/>
          <p:cNvSpPr/>
          <p:nvPr/>
        </p:nvSpPr>
        <p:spPr>
          <a:xfrm>
            <a:off x="5961888" y="4754184"/>
            <a:ext cx="274320" cy="201168"/>
          </a:xfrm>
          <a:prstGeom prst="rightArrow">
            <a:avLst/>
          </a:prstGeom>
          <a:solidFill>
            <a:srgbClr val="33487E"/>
          </a:solidFill>
          <a:ln w="12700">
            <a:solidFill>
              <a:srgbClr val="33487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6" name="Shape 34"/>
          <p:cNvSpPr/>
          <p:nvPr/>
        </p:nvSpPr>
        <p:spPr>
          <a:xfrm>
            <a:off x="8741664" y="4754184"/>
            <a:ext cx="274320" cy="201168"/>
          </a:xfrm>
          <a:prstGeom prst="rightArrow">
            <a:avLst/>
          </a:prstGeom>
          <a:solidFill>
            <a:srgbClr val="33487E"/>
          </a:solidFill>
          <a:ln w="12700">
            <a:solidFill>
              <a:srgbClr val="33487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7" name="Shape 35"/>
          <p:cNvSpPr/>
          <p:nvPr/>
        </p:nvSpPr>
        <p:spPr>
          <a:xfrm>
            <a:off x="731520" y="5686872"/>
            <a:ext cx="3322015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9525">
            <a:solidFill>
              <a:srgbClr val="B7C6E3"/>
            </a:solidFill>
            <a:prstDash val="solid"/>
          </a:ln>
          <a:effectLst>
            <a:outerShdw blurRad="63500" dist="12700" dir="5400000" algn="bl" rotWithShape="0">
              <a:srgbClr val="9AA6BF">
                <a:alpha val="22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38" name="Text 36"/>
          <p:cNvSpPr txBox="1"/>
          <p:nvPr/>
        </p:nvSpPr>
        <p:spPr>
          <a:xfrm>
            <a:off x="877824" y="5750880"/>
            <a:ext cx="302940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6264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+0.1000</a:t>
            </a:r>
            <a:endParaRPr lang="en-US" sz="2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5E6B85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AUPRC inflation from the random split (CI 0.017 to 0.183)</a:t>
            </a:r>
            <a:endParaRPr lang="en-US" sz="2800" dirty="0"/>
          </a:p>
        </p:txBody>
      </p:sp>
      <p:sp>
        <p:nvSpPr>
          <p:cNvPr id="39" name="Shape 37"/>
          <p:cNvSpPr/>
          <p:nvPr/>
        </p:nvSpPr>
        <p:spPr>
          <a:xfrm>
            <a:off x="4437583" y="5686872"/>
            <a:ext cx="3322015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9525">
            <a:solidFill>
              <a:srgbClr val="B7C6E3"/>
            </a:solidFill>
            <a:prstDash val="solid"/>
          </a:ln>
          <a:effectLst>
            <a:outerShdw blurRad="63500" dist="12700" dir="5400000" algn="bl" rotWithShape="0">
              <a:srgbClr val="9AA6BF">
                <a:alpha val="22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40" name="Text 38"/>
          <p:cNvSpPr txBox="1"/>
          <p:nvPr/>
        </p:nvSpPr>
        <p:spPr>
          <a:xfrm>
            <a:off x="4583887" y="5750880"/>
            <a:ext cx="302940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6264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−0.0102</a:t>
            </a:r>
            <a:endParaRPr lang="en-US" sz="2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5E6B85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The same comparison in ROC-AUC, p = 0.58</a:t>
            </a:r>
            <a:endParaRPr lang="en-US" sz="2800" dirty="0"/>
          </a:p>
        </p:txBody>
      </p:sp>
      <p:sp>
        <p:nvSpPr>
          <p:cNvPr id="41" name="Shape 39"/>
          <p:cNvSpPr/>
          <p:nvPr/>
        </p:nvSpPr>
        <p:spPr>
          <a:xfrm>
            <a:off x="8143646" y="5686872"/>
            <a:ext cx="3322015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9525">
            <a:solidFill>
              <a:srgbClr val="B7C6E3"/>
            </a:solidFill>
            <a:prstDash val="solid"/>
          </a:ln>
          <a:effectLst>
            <a:outerShdw blurRad="63500" dist="12700" dir="5400000" algn="bl" rotWithShape="0">
              <a:srgbClr val="9AA6BF">
                <a:alpha val="22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42" name="Text 40"/>
          <p:cNvSpPr txBox="1"/>
          <p:nvPr/>
        </p:nvSpPr>
        <p:spPr>
          <a:xfrm>
            <a:off x="8289950" y="5750880"/>
            <a:ext cx="302940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6264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+0.0652</a:t>
            </a:r>
            <a:endParaRPr lang="en-US" sz="2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5E6B85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SMOTE over the benchmark winner at matched prevalence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4000" b="1" dirty="0">
                <a:solidFill>
                  <a:srgbClr val="16264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Modelling and Tuning Block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dirty="0">
                <a:solidFill>
                  <a:srgbClr val="5E6B85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Every family receives the same search budget, so the comparison is fair by construction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93776" y="1280160"/>
            <a:ext cx="2514600" cy="2240280"/>
          </a:xfrm>
          <a:prstGeom prst="roundRect">
            <a:avLst>
              <a:gd name="adj" fmla="val 2449"/>
            </a:avLst>
          </a:prstGeom>
          <a:solidFill>
            <a:srgbClr val="EDF2FB"/>
          </a:solidFill>
          <a:ln w="9525">
            <a:solidFill>
              <a:srgbClr val="B7C6E3"/>
            </a:solidFill>
            <a:prstDash val="solid"/>
          </a:ln>
          <a:effectLst>
            <a:outerShdw blurRad="63500" dist="12700" dir="5400000" algn="bl" rotWithShape="0">
              <a:srgbClr val="9AA6BF">
                <a:alpha val="22000"/>
              </a:srgbClr>
            </a:outerShdw>
          </a:effectLst>
        </p:spPr>
        <p:txBody>
          <a:bodyPr/>
          <a:lstStyle/>
          <a:p>
            <a:pPr algn="just"/>
            <a:endParaRPr lang="en-US" sz="2800"/>
          </a:p>
        </p:txBody>
      </p:sp>
      <p:sp>
        <p:nvSpPr>
          <p:cNvPr id="5" name="Text 3"/>
          <p:cNvSpPr txBox="1"/>
          <p:nvPr/>
        </p:nvSpPr>
        <p:spPr>
          <a:xfrm>
            <a:off x="658368" y="1426464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264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Training partition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810512"/>
            <a:ext cx="21854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600" dirty="0">
                <a:solidFill>
                  <a:srgbClr val="5E6B85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198,608 rows 331 fraudulent, 0.167 percent</a:t>
            </a:r>
            <a:endParaRPr lang="en-US" sz="1600" dirty="0"/>
          </a:p>
          <a:p>
            <a:pPr marL="0" indent="0" algn="just">
              <a:lnSpc>
                <a:spcPct val="125000"/>
              </a:lnSpc>
              <a:buNone/>
            </a:pPr>
            <a:r>
              <a:rPr lang="en-US" sz="1600" dirty="0">
                <a:solidFill>
                  <a:srgbClr val="5E6B85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Scaler estimated here and nowhere else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92424" y="1280160"/>
            <a:ext cx="2514600" cy="2240280"/>
          </a:xfrm>
          <a:prstGeom prst="roundRect">
            <a:avLst>
              <a:gd name="adj" fmla="val 2449"/>
            </a:avLst>
          </a:prstGeom>
          <a:solidFill>
            <a:srgbClr val="EDF2FB"/>
          </a:solidFill>
          <a:ln w="9525">
            <a:solidFill>
              <a:srgbClr val="B7C6E3"/>
            </a:solidFill>
            <a:prstDash val="solid"/>
          </a:ln>
          <a:effectLst>
            <a:outerShdw blurRad="63500" dist="12700" dir="5400000" algn="bl" rotWithShape="0">
              <a:srgbClr val="9AA6BF">
                <a:alpha val="22000"/>
              </a:srgbClr>
            </a:outerShdw>
          </a:effectLst>
        </p:spPr>
        <p:txBody>
          <a:bodyPr/>
          <a:lstStyle/>
          <a:p>
            <a:pPr algn="just"/>
            <a:endParaRPr lang="en-US" sz="2800"/>
          </a:p>
        </p:txBody>
      </p:sp>
      <p:sp>
        <p:nvSpPr>
          <p:cNvPr id="8" name="Text 6"/>
          <p:cNvSpPr txBox="1"/>
          <p:nvPr/>
        </p:nvSpPr>
        <p:spPr>
          <a:xfrm>
            <a:off x="3557016" y="1426464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264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Imbalance handling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575304" y="1847088"/>
            <a:ext cx="21488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B7C6E3"/>
            </a:solidFill>
            <a:prstDash val="solid"/>
          </a:ln>
        </p:spPr>
        <p:txBody>
          <a:bodyPr/>
          <a:lstStyle/>
          <a:p>
            <a:pPr algn="just"/>
            <a:endParaRPr lang="en-US" sz="2800"/>
          </a:p>
        </p:txBody>
      </p:sp>
      <p:sp>
        <p:nvSpPr>
          <p:cNvPr id="10" name="Text 8"/>
          <p:cNvSpPr txBox="1"/>
          <p:nvPr/>
        </p:nvSpPr>
        <p:spPr>
          <a:xfrm>
            <a:off x="3575304" y="184708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1B1B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Class weighting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575304" y="2304288"/>
            <a:ext cx="21488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B7C6E3"/>
            </a:solidFill>
            <a:prstDash val="solid"/>
          </a:ln>
        </p:spPr>
        <p:txBody>
          <a:bodyPr/>
          <a:lstStyle/>
          <a:p>
            <a:pPr algn="just"/>
            <a:endParaRPr lang="en-US" sz="2800"/>
          </a:p>
        </p:txBody>
      </p:sp>
      <p:sp>
        <p:nvSpPr>
          <p:cNvPr id="12" name="Text 10"/>
          <p:cNvSpPr txBox="1"/>
          <p:nvPr/>
        </p:nvSpPr>
        <p:spPr>
          <a:xfrm>
            <a:off x="3575304" y="230428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1B1B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Random undersampling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75304" y="2761488"/>
            <a:ext cx="21488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B7C6E3"/>
            </a:solidFill>
            <a:prstDash val="solid"/>
          </a:ln>
        </p:spPr>
        <p:txBody>
          <a:bodyPr/>
          <a:lstStyle/>
          <a:p>
            <a:pPr algn="just"/>
            <a:endParaRPr lang="en-US" sz="2800"/>
          </a:p>
        </p:txBody>
      </p:sp>
      <p:sp>
        <p:nvSpPr>
          <p:cNvPr id="14" name="Text 12"/>
          <p:cNvSpPr txBox="1"/>
          <p:nvPr/>
        </p:nvSpPr>
        <p:spPr>
          <a:xfrm>
            <a:off x="3575304" y="276148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1B1B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SMOTE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575304" y="318211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5E6B85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Applied inside training folds only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91072" y="1280160"/>
            <a:ext cx="2514600" cy="2240280"/>
          </a:xfrm>
          <a:prstGeom prst="roundRect">
            <a:avLst>
              <a:gd name="adj" fmla="val 2449"/>
            </a:avLst>
          </a:prstGeom>
          <a:solidFill>
            <a:srgbClr val="EDF2FB"/>
          </a:solidFill>
          <a:ln w="9525">
            <a:solidFill>
              <a:srgbClr val="B7C6E3"/>
            </a:solidFill>
            <a:prstDash val="solid"/>
          </a:ln>
          <a:effectLst>
            <a:outerShdw blurRad="63500" dist="12700" dir="5400000" algn="bl" rotWithShape="0">
              <a:srgbClr val="9AA6BF">
                <a:alpha val="22000"/>
              </a:srgbClr>
            </a:outerShdw>
          </a:effectLst>
        </p:spPr>
        <p:txBody>
          <a:bodyPr/>
          <a:lstStyle/>
          <a:p>
            <a:pPr algn="just"/>
            <a:endParaRPr lang="en-US" sz="2800"/>
          </a:p>
        </p:txBody>
      </p:sp>
      <p:sp>
        <p:nvSpPr>
          <p:cNvPr id="17" name="Text 15"/>
          <p:cNvSpPr txBox="1"/>
          <p:nvPr/>
        </p:nvSpPr>
        <p:spPr>
          <a:xfrm>
            <a:off x="6455664" y="1426464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264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Model families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473952" y="1847088"/>
            <a:ext cx="21488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B7C6E3"/>
            </a:solidFill>
            <a:prstDash val="solid"/>
          </a:ln>
        </p:spPr>
        <p:txBody>
          <a:bodyPr/>
          <a:lstStyle/>
          <a:p>
            <a:pPr algn="just"/>
            <a:endParaRPr lang="en-US" sz="2800"/>
          </a:p>
        </p:txBody>
      </p:sp>
      <p:sp>
        <p:nvSpPr>
          <p:cNvPr id="19" name="Text 17"/>
          <p:cNvSpPr txBox="1"/>
          <p:nvPr/>
        </p:nvSpPr>
        <p:spPr>
          <a:xfrm>
            <a:off x="6473952" y="184708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1B1B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73952" y="2304288"/>
            <a:ext cx="21488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B7C6E3"/>
            </a:solidFill>
            <a:prstDash val="solid"/>
          </a:ln>
        </p:spPr>
        <p:txBody>
          <a:bodyPr/>
          <a:lstStyle/>
          <a:p>
            <a:pPr algn="just"/>
            <a:endParaRPr lang="en-US" sz="2800"/>
          </a:p>
        </p:txBody>
      </p:sp>
      <p:sp>
        <p:nvSpPr>
          <p:cNvPr id="21" name="Text 19"/>
          <p:cNvSpPr txBox="1"/>
          <p:nvPr/>
        </p:nvSpPr>
        <p:spPr>
          <a:xfrm>
            <a:off x="6473952" y="230428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1B1B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73952" y="2761488"/>
            <a:ext cx="21488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B7C6E3"/>
            </a:solidFill>
            <a:prstDash val="solid"/>
          </a:ln>
        </p:spPr>
        <p:txBody>
          <a:bodyPr/>
          <a:lstStyle/>
          <a:p>
            <a:pPr algn="just"/>
            <a:endParaRPr lang="en-US" sz="2800"/>
          </a:p>
        </p:txBody>
      </p:sp>
      <p:sp>
        <p:nvSpPr>
          <p:cNvPr id="23" name="Text 21"/>
          <p:cNvSpPr txBox="1"/>
          <p:nvPr/>
        </p:nvSpPr>
        <p:spPr>
          <a:xfrm>
            <a:off x="6473952" y="276148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1B1B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Gradient boosting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73952" y="318211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5E6B85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Same folds and seed throughout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189720" y="1133856"/>
            <a:ext cx="2514600" cy="2505456"/>
          </a:xfrm>
          <a:prstGeom prst="roundRect">
            <a:avLst>
              <a:gd name="adj" fmla="val 2449"/>
            </a:avLst>
          </a:prstGeom>
          <a:solidFill>
            <a:srgbClr val="FCF3E6"/>
          </a:solidFill>
          <a:ln w="9525">
            <a:solidFill>
              <a:srgbClr val="DFA75B"/>
            </a:solidFill>
            <a:prstDash val="solid"/>
          </a:ln>
          <a:effectLst>
            <a:outerShdw blurRad="63500" dist="12700" dir="5400000" algn="bl" rotWithShape="0">
              <a:srgbClr val="9AA6BF">
                <a:alpha val="22000"/>
              </a:srgbClr>
            </a:outerShdw>
          </a:effectLst>
        </p:spPr>
        <p:txBody>
          <a:bodyPr/>
          <a:lstStyle/>
          <a:p>
            <a:pPr algn="just"/>
            <a:endParaRPr lang="en-US" sz="2800"/>
          </a:p>
        </p:txBody>
      </p:sp>
      <p:sp>
        <p:nvSpPr>
          <p:cNvPr id="26" name="Text 24"/>
          <p:cNvSpPr txBox="1"/>
          <p:nvPr/>
        </p:nvSpPr>
        <p:spPr>
          <a:xfrm>
            <a:off x="9354312" y="1426464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26A15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Search and selection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9282023" y="1664208"/>
            <a:ext cx="2330857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600" dirty="0">
                <a:solidFill>
                  <a:srgbClr val="5E6B85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30 sampled configurations</a:t>
            </a:r>
            <a:endParaRPr lang="en-US" sz="1600" dirty="0"/>
          </a:p>
          <a:p>
            <a:pPr marL="0" indent="0" algn="just">
              <a:lnSpc>
                <a:spcPct val="125000"/>
              </a:lnSpc>
              <a:buNone/>
            </a:pPr>
            <a:r>
              <a:rPr lang="en-US" sz="1600" dirty="0">
                <a:solidFill>
                  <a:srgbClr val="5E6B85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3-fold inner cross validation</a:t>
            </a:r>
            <a:endParaRPr lang="en-US" sz="1600" dirty="0"/>
          </a:p>
          <a:p>
            <a:pPr marL="0" indent="0" algn="just">
              <a:lnSpc>
                <a:spcPct val="125000"/>
              </a:lnSpc>
              <a:buNone/>
            </a:pPr>
            <a:r>
              <a:rPr lang="en-US" sz="1600" dirty="0">
                <a:solidFill>
                  <a:srgbClr val="5E6B85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90 candidate fits per family</a:t>
            </a:r>
            <a:endParaRPr lang="en-US" sz="1600" dirty="0"/>
          </a:p>
          <a:p>
            <a:pPr marL="0" indent="0" algn="just">
              <a:lnSpc>
                <a:spcPct val="125000"/>
              </a:lnSpc>
              <a:buNone/>
            </a:pPr>
            <a:r>
              <a:rPr lang="en-US" sz="1600" dirty="0">
                <a:solidFill>
                  <a:srgbClr val="5E6B85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Scored by average precision</a:t>
            </a:r>
            <a:endParaRPr lang="en-US" sz="1600" dirty="0"/>
          </a:p>
          <a:p>
            <a:pPr marL="0" indent="0" algn="just">
              <a:lnSpc>
                <a:spcPct val="125000"/>
              </a:lnSpc>
              <a:buNone/>
            </a:pPr>
            <a:r>
              <a:rPr lang="en-US" sz="1600" dirty="0">
                <a:solidFill>
                  <a:srgbClr val="5E6B85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Winner refit on the full partition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063240" y="2299716"/>
            <a:ext cx="274320" cy="201168"/>
          </a:xfrm>
          <a:prstGeom prst="rightArrow">
            <a:avLst/>
          </a:prstGeom>
          <a:solidFill>
            <a:srgbClr val="33487E"/>
          </a:solidFill>
          <a:ln w="12700">
            <a:solidFill>
              <a:srgbClr val="33487E"/>
            </a:solidFill>
            <a:prstDash val="solid"/>
          </a:ln>
        </p:spPr>
        <p:txBody>
          <a:bodyPr/>
          <a:lstStyle/>
          <a:p>
            <a:pPr algn="just"/>
            <a:endParaRPr lang="en-US" sz="2800"/>
          </a:p>
        </p:txBody>
      </p:sp>
      <p:sp>
        <p:nvSpPr>
          <p:cNvPr id="29" name="Shape 27"/>
          <p:cNvSpPr/>
          <p:nvPr/>
        </p:nvSpPr>
        <p:spPr>
          <a:xfrm>
            <a:off x="5961888" y="2299716"/>
            <a:ext cx="274320" cy="201168"/>
          </a:xfrm>
          <a:prstGeom prst="rightArrow">
            <a:avLst/>
          </a:prstGeom>
          <a:solidFill>
            <a:srgbClr val="33487E"/>
          </a:solidFill>
          <a:ln w="12700">
            <a:solidFill>
              <a:srgbClr val="33487E"/>
            </a:solidFill>
            <a:prstDash val="solid"/>
          </a:ln>
        </p:spPr>
        <p:txBody>
          <a:bodyPr/>
          <a:lstStyle/>
          <a:p>
            <a:pPr algn="just"/>
            <a:endParaRPr lang="en-US" sz="2800"/>
          </a:p>
        </p:txBody>
      </p:sp>
      <p:sp>
        <p:nvSpPr>
          <p:cNvPr id="30" name="Shape 28"/>
          <p:cNvSpPr/>
          <p:nvPr/>
        </p:nvSpPr>
        <p:spPr>
          <a:xfrm>
            <a:off x="8860536" y="2299716"/>
            <a:ext cx="274320" cy="201168"/>
          </a:xfrm>
          <a:prstGeom prst="rightArrow">
            <a:avLst/>
          </a:prstGeom>
          <a:solidFill>
            <a:srgbClr val="33487E"/>
          </a:solidFill>
          <a:ln w="12700">
            <a:solidFill>
              <a:srgbClr val="33487E"/>
            </a:solidFill>
            <a:prstDash val="solid"/>
          </a:ln>
        </p:spPr>
        <p:txBody>
          <a:bodyPr/>
          <a:lstStyle/>
          <a:p>
            <a:pPr algn="just"/>
            <a:endParaRPr lang="en-US" sz="2800"/>
          </a:p>
        </p:txBody>
      </p:sp>
      <p:sp>
        <p:nvSpPr>
          <p:cNvPr id="31" name="Shape 29"/>
          <p:cNvSpPr/>
          <p:nvPr/>
        </p:nvSpPr>
        <p:spPr>
          <a:xfrm>
            <a:off x="5977433" y="3630168"/>
            <a:ext cx="237744" cy="274320"/>
          </a:xfrm>
          <a:prstGeom prst="downArrow">
            <a:avLst/>
          </a:prstGeom>
          <a:solidFill>
            <a:srgbClr val="33487E"/>
          </a:solidFill>
          <a:ln w="12700">
            <a:solidFill>
              <a:srgbClr val="33487E"/>
            </a:solidFill>
            <a:prstDash val="solid"/>
          </a:ln>
        </p:spPr>
        <p:txBody>
          <a:bodyPr/>
          <a:lstStyle/>
          <a:p>
            <a:pPr algn="just"/>
            <a:endParaRPr lang="en-US" sz="2800"/>
          </a:p>
        </p:txBody>
      </p:sp>
      <p:sp>
        <p:nvSpPr>
          <p:cNvPr id="32" name="Shape 30"/>
          <p:cNvSpPr/>
          <p:nvPr/>
        </p:nvSpPr>
        <p:spPr>
          <a:xfrm>
            <a:off x="466344" y="4069080"/>
            <a:ext cx="3520440" cy="1051560"/>
          </a:xfrm>
          <a:prstGeom prst="roundRect">
            <a:avLst>
              <a:gd name="adj" fmla="val 5217"/>
            </a:avLst>
          </a:prstGeom>
          <a:solidFill>
            <a:srgbClr val="EDF2FB"/>
          </a:solidFill>
          <a:ln w="9525">
            <a:solidFill>
              <a:srgbClr val="B7C6E3"/>
            </a:solidFill>
            <a:prstDash val="solid"/>
          </a:ln>
          <a:effectLst>
            <a:outerShdw blurRad="63500" dist="12700" dir="5400000" algn="bl" rotWithShape="0">
              <a:srgbClr val="9AA6BF">
                <a:alpha val="22000"/>
              </a:srgbClr>
            </a:outerShdw>
          </a:effectLst>
        </p:spPr>
        <p:txBody>
          <a:bodyPr/>
          <a:lstStyle/>
          <a:p>
            <a:pPr algn="just"/>
            <a:endParaRPr lang="en-US" sz="2800"/>
          </a:p>
        </p:txBody>
      </p:sp>
      <p:sp>
        <p:nvSpPr>
          <p:cNvPr id="33" name="Text 31"/>
          <p:cNvSpPr txBox="1"/>
          <p:nvPr/>
        </p:nvSpPr>
        <p:spPr>
          <a:xfrm>
            <a:off x="612648" y="4142232"/>
            <a:ext cx="322783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5000"/>
              </a:lnSpc>
              <a:buNone/>
            </a:pPr>
            <a:r>
              <a:rPr lang="en-US" b="1" dirty="0">
                <a:solidFill>
                  <a:srgbClr val="16264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Held out scoring</a:t>
            </a:r>
            <a:endParaRPr lang="en-US" dirty="0"/>
          </a:p>
          <a:p>
            <a:pPr marL="0" indent="0" algn="just">
              <a:lnSpc>
                <a:spcPct val="105000"/>
              </a:lnSpc>
              <a:buNone/>
            </a:pPr>
            <a:r>
              <a:rPr lang="en-US" sz="1400" dirty="0">
                <a:solidFill>
                  <a:srgbClr val="5E6B85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85,118 transactions holding 142 frauds, scored once</a:t>
            </a: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4334256" y="4069080"/>
            <a:ext cx="3520440" cy="1051560"/>
          </a:xfrm>
          <a:prstGeom prst="roundRect">
            <a:avLst>
              <a:gd name="adj" fmla="val 5217"/>
            </a:avLst>
          </a:prstGeom>
          <a:solidFill>
            <a:srgbClr val="EDF2FB"/>
          </a:solidFill>
          <a:ln w="9525">
            <a:solidFill>
              <a:srgbClr val="B7C6E3"/>
            </a:solidFill>
            <a:prstDash val="solid"/>
          </a:ln>
          <a:effectLst>
            <a:outerShdw blurRad="63500" dist="12700" dir="5400000" algn="bl" rotWithShape="0">
              <a:srgbClr val="9AA6BF">
                <a:alpha val="22000"/>
              </a:srgbClr>
            </a:outerShdw>
          </a:effectLst>
        </p:spPr>
        <p:txBody>
          <a:bodyPr/>
          <a:lstStyle/>
          <a:p>
            <a:pPr algn="just"/>
            <a:endParaRPr lang="en-US" sz="2800"/>
          </a:p>
        </p:txBody>
      </p:sp>
      <p:sp>
        <p:nvSpPr>
          <p:cNvPr id="35" name="Text 33"/>
          <p:cNvSpPr txBox="1"/>
          <p:nvPr/>
        </p:nvSpPr>
        <p:spPr>
          <a:xfrm>
            <a:off x="4480560" y="4142232"/>
            <a:ext cx="322783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5000"/>
              </a:lnSpc>
              <a:buNone/>
            </a:pPr>
            <a:r>
              <a:rPr lang="en-US" b="1" dirty="0">
                <a:solidFill>
                  <a:srgbClr val="16264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Threshold free metrics</a:t>
            </a:r>
            <a:endParaRPr lang="en-US" dirty="0"/>
          </a:p>
          <a:p>
            <a:pPr marL="0" indent="0" algn="just">
              <a:lnSpc>
                <a:spcPct val="105000"/>
              </a:lnSpc>
              <a:buNone/>
            </a:pPr>
            <a:r>
              <a:rPr lang="en-US" sz="1400" dirty="0">
                <a:solidFill>
                  <a:srgbClr val="5E6B85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AUPRC as the primary measure, ROC-AUC as a prevalence invariant check</a:t>
            </a: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8202168" y="4069080"/>
            <a:ext cx="3520440" cy="1051560"/>
          </a:xfrm>
          <a:prstGeom prst="roundRect">
            <a:avLst>
              <a:gd name="adj" fmla="val 5217"/>
            </a:avLst>
          </a:prstGeom>
          <a:solidFill>
            <a:srgbClr val="EDF2FB"/>
          </a:solidFill>
          <a:ln w="9525">
            <a:solidFill>
              <a:srgbClr val="B7C6E3"/>
            </a:solidFill>
            <a:prstDash val="solid"/>
          </a:ln>
          <a:effectLst>
            <a:outerShdw blurRad="63500" dist="12700" dir="5400000" algn="bl" rotWithShape="0">
              <a:srgbClr val="9AA6BF">
                <a:alpha val="22000"/>
              </a:srgbClr>
            </a:outerShdw>
          </a:effectLst>
        </p:spPr>
        <p:txBody>
          <a:bodyPr/>
          <a:lstStyle/>
          <a:p>
            <a:pPr algn="just"/>
            <a:endParaRPr lang="en-US" sz="2800"/>
          </a:p>
        </p:txBody>
      </p:sp>
      <p:sp>
        <p:nvSpPr>
          <p:cNvPr id="37" name="Text 35"/>
          <p:cNvSpPr txBox="1"/>
          <p:nvPr/>
        </p:nvSpPr>
        <p:spPr>
          <a:xfrm>
            <a:off x="8348472" y="4142232"/>
            <a:ext cx="322783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5000"/>
              </a:lnSpc>
              <a:buNone/>
            </a:pPr>
            <a:r>
              <a:rPr lang="en-US" b="1" dirty="0">
                <a:solidFill>
                  <a:srgbClr val="16264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Operating point</a:t>
            </a:r>
            <a:endParaRPr lang="en-US" dirty="0"/>
          </a:p>
          <a:p>
            <a:pPr marL="0" indent="0" algn="just">
              <a:lnSpc>
                <a:spcPct val="105000"/>
              </a:lnSpc>
              <a:buNone/>
            </a:pPr>
            <a:r>
              <a:rPr lang="en-US" sz="1400" dirty="0">
                <a:solidFill>
                  <a:srgbClr val="5E6B85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Decision threshold taken from the example dependent cost sweep</a:t>
            </a: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4023360" y="4494276"/>
            <a:ext cx="274320" cy="201168"/>
          </a:xfrm>
          <a:prstGeom prst="rightArrow">
            <a:avLst/>
          </a:prstGeom>
          <a:solidFill>
            <a:srgbClr val="33487E"/>
          </a:solidFill>
          <a:ln w="12700">
            <a:solidFill>
              <a:srgbClr val="33487E"/>
            </a:solidFill>
            <a:prstDash val="solid"/>
          </a:ln>
        </p:spPr>
        <p:txBody>
          <a:bodyPr/>
          <a:lstStyle/>
          <a:p>
            <a:pPr algn="just"/>
            <a:endParaRPr lang="en-US" sz="2800"/>
          </a:p>
        </p:txBody>
      </p:sp>
      <p:sp>
        <p:nvSpPr>
          <p:cNvPr id="39" name="Shape 37"/>
          <p:cNvSpPr/>
          <p:nvPr/>
        </p:nvSpPr>
        <p:spPr>
          <a:xfrm>
            <a:off x="7891272" y="4494276"/>
            <a:ext cx="274320" cy="201168"/>
          </a:xfrm>
          <a:prstGeom prst="rightArrow">
            <a:avLst/>
          </a:prstGeom>
          <a:solidFill>
            <a:srgbClr val="33487E"/>
          </a:solidFill>
          <a:ln w="12700">
            <a:solidFill>
              <a:srgbClr val="33487E"/>
            </a:solidFill>
            <a:prstDash val="solid"/>
          </a:ln>
        </p:spPr>
        <p:txBody>
          <a:bodyPr/>
          <a:lstStyle/>
          <a:p>
            <a:pPr algn="just"/>
            <a:endParaRPr lang="en-US" sz="2800"/>
          </a:p>
        </p:txBody>
      </p:sp>
      <p:sp>
        <p:nvSpPr>
          <p:cNvPr id="40" name="Shape 38"/>
          <p:cNvSpPr/>
          <p:nvPr/>
        </p:nvSpPr>
        <p:spPr>
          <a:xfrm>
            <a:off x="1249528" y="5486400"/>
            <a:ext cx="9692640" cy="804672"/>
          </a:xfrm>
          <a:prstGeom prst="roundRect">
            <a:avLst>
              <a:gd name="adj" fmla="val 6818"/>
            </a:avLst>
          </a:prstGeom>
          <a:solidFill>
            <a:srgbClr val="FCF3E6"/>
          </a:solidFill>
          <a:ln w="9525">
            <a:solidFill>
              <a:srgbClr val="DFA75B"/>
            </a:solidFill>
            <a:prstDash val="solid"/>
          </a:ln>
          <a:effectLst>
            <a:outerShdw blurRad="63500" dist="12700" dir="5400000" algn="bl" rotWithShape="0">
              <a:srgbClr val="9AA6BF">
                <a:alpha val="22000"/>
              </a:srgbClr>
            </a:outerShdw>
          </a:effectLst>
        </p:spPr>
        <p:txBody>
          <a:bodyPr/>
          <a:lstStyle/>
          <a:p>
            <a:pPr algn="just"/>
            <a:endParaRPr lang="en-US" sz="2800"/>
          </a:p>
        </p:txBody>
      </p:sp>
      <p:sp>
        <p:nvSpPr>
          <p:cNvPr id="41" name="Text 39"/>
          <p:cNvSpPr txBox="1"/>
          <p:nvPr/>
        </p:nvSpPr>
        <p:spPr>
          <a:xfrm>
            <a:off x="1450696" y="5541264"/>
            <a:ext cx="92903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B26A15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Selected configuration   </a:t>
            </a:r>
            <a:r>
              <a:rPr lang="en-US" dirty="0">
                <a:solidFill>
                  <a:srgbClr val="16264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Gradient boosting with class weighting, AUPRC 0.8334,  ROC-AUC 0.9749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407</Words>
  <Application>Microsoft Office PowerPoint</Application>
  <PresentationFormat>Widescreen</PresentationFormat>
  <Paragraphs>65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Centaur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Protocol Optimism in Credit Card Fraud Detection</dc:creator>
  <cp:lastModifiedBy>Dip Khastagir</cp:lastModifiedBy>
  <cp:revision>3</cp:revision>
  <dcterms:created xsi:type="dcterms:W3CDTF">2026-09-30T06:27:28Z</dcterms:created>
  <dcterms:modified xsi:type="dcterms:W3CDTF">2026-09-30T06:39:31Z</dcterms:modified>
</cp:coreProperties>
</file>